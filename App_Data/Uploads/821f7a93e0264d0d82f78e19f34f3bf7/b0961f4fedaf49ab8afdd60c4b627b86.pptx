
<file path=[Content_Types].xml><?xml version="1.0" encoding="utf-8"?>
<Types xmlns="http://schemas.openxmlformats.org/package/2006/content-types">
  <Default Extension="jfif" ContentType="image/jpeg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2" r:id="rId5"/>
    <p:sldId id="260" r:id="rId6"/>
    <p:sldId id="261" r:id="rId7"/>
    <p:sldId id="264" r:id="rId8"/>
    <p:sldId id="265" r:id="rId9"/>
    <p:sldId id="263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39" autoAdjust="0"/>
    <p:restoredTop sz="94660"/>
  </p:normalViewPr>
  <p:slideViewPr>
    <p:cSldViewPr snapToGrid="0">
      <p:cViewPr varScale="1">
        <p:scale>
          <a:sx n="95" d="100"/>
          <a:sy n="95" d="100"/>
        </p:scale>
        <p:origin x="20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843A91-304F-256D-880C-0EEA785187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8FF81E9-37DF-426E-2DE3-A03BFB23A9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EE4407-9F00-BA3E-BB5C-3022B5CF2F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0E24CA-049A-41C5-8223-E6EC566D6F18}" type="datetimeFigureOut">
              <a:rPr lang="en-IN" smtClean="0"/>
              <a:t>17-07-2026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DAD79A-F149-8194-475E-D4C28644F0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02BB0D-EF5E-4DB2-E4DB-71F94FF248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284D3-0538-4A5F-B034-D6BC5D3AA7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67893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87EEF9-946F-A91D-BDFD-F61A55E230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4D66D3-6901-11A4-0713-0B29DC3E29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36DF11-9050-4BDA-3ED9-8CE265A5F5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0E24CA-049A-41C5-8223-E6EC566D6F18}" type="datetimeFigureOut">
              <a:rPr lang="en-IN" smtClean="0"/>
              <a:t>17-07-2026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9205EC-F37A-C1B8-72B1-BDDD3CCF1D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BAF786-8710-D425-058C-183285C0F7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284D3-0538-4A5F-B034-D6BC5D3AA7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410905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4AFAA6-C025-BAD3-E0FF-D273A94FBB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404124-7083-49D5-1EEF-CF53DF113B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B07707-049A-4CD6-A1F6-CE6B0D6E2A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0E24CA-049A-41C5-8223-E6EC566D6F18}" type="datetimeFigureOut">
              <a:rPr lang="en-IN" smtClean="0"/>
              <a:t>17-07-2026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756528-D869-EBD9-3EFA-CB8B165484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743AB5-3D9C-081F-91F6-92D6208CB3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284D3-0538-4A5F-B034-D6BC5D3AA7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800932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E918E1-1AED-BAAA-1CC9-EA6E882793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4E665B-CA85-8650-EC82-F86E1414B88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5700AF8-2854-6343-2DFE-E9A04EFC3C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D4E776-A288-80BB-B3C6-B2283C14CE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0E24CA-049A-41C5-8223-E6EC566D6F18}" type="datetimeFigureOut">
              <a:rPr lang="en-IN" smtClean="0"/>
              <a:t>17-07-2026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AB9849-2DC2-B903-1AD0-D5A20DFD21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96B74E-3F4F-9516-EF72-A436127EA4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284D3-0538-4A5F-B034-D6BC5D3AA7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47217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D3B3FA-9C20-5B6E-312A-4F1146F5BE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513533-05E2-3363-456F-6134A8BEAF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7115731-3D85-22FD-99FD-0555AFA4F8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0E6EE11-79C4-6A50-2A8C-3F1B6F02866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0025EBA-B636-1EE4-7BB4-7B49CBB4701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AC055B8-91CC-9281-24ED-493E4B8054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0E24CA-049A-41C5-8223-E6EC566D6F18}" type="datetimeFigureOut">
              <a:rPr lang="en-IN" smtClean="0"/>
              <a:t>17-07-2026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EDDFFBC-30E2-D7EB-EBF5-8D2E996DA8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E621695-C4FA-9653-677F-915A7A0E05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284D3-0538-4A5F-B034-D6BC5D3AA7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9946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6E364C-3099-DE1F-E31D-C6F986B47C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A477632-48E5-1F41-FF49-9E0212917D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0E24CA-049A-41C5-8223-E6EC566D6F18}" type="datetimeFigureOut">
              <a:rPr lang="en-IN" smtClean="0"/>
              <a:t>17-07-2026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33CB10-86BB-3B05-CCA4-33E0FC4A63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43C2008-F624-EB56-B490-4F4B202B22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284D3-0538-4A5F-B034-D6BC5D3AA7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35231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5779659-0396-E072-41EB-E0D0549BCB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0E24CA-049A-41C5-8223-E6EC566D6F18}" type="datetimeFigureOut">
              <a:rPr lang="en-IN" smtClean="0"/>
              <a:t>17-07-2026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0995D87-8777-E861-FAFA-6A14299578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161865-85E7-82D8-0C69-9AD9256C39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284D3-0538-4A5F-B034-D6BC5D3AA7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744512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424313-0509-0CA2-4BD4-C5B41F7E45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786191-E151-5000-DD31-BBA3910924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042C91C-0DC8-A957-97FD-DE4A3C81AD0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F7ECD9A-1696-CC19-9757-10EEB1D7EF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0E24CA-049A-41C5-8223-E6EC566D6F18}" type="datetimeFigureOut">
              <a:rPr lang="en-IN" smtClean="0"/>
              <a:t>17-07-2026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C96C1FE-6D99-08A9-510E-DB2F65B59F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7D50CB-12E1-CC0D-058F-9A81681B87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284D3-0538-4A5F-B034-D6BC5D3AA7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80948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1D8501-40CA-4ED4-E7A4-A0E1388EE5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E844E3F-8A73-14CF-1610-819F95CBF09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E096CB-9B63-481D-B433-D64B23FF7F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633A5A-F72A-E9CC-7F7D-62F8CA6F7A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0E24CA-049A-41C5-8223-E6EC566D6F18}" type="datetimeFigureOut">
              <a:rPr lang="en-IN" smtClean="0"/>
              <a:t>17-07-2026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83C1C1-3996-3C30-736C-20BAA503C3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BB4657-E402-55B3-6E59-ED63F963A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284D3-0538-4A5F-B034-D6BC5D3AA7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58006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D2CBF4-A465-FA4F-55EB-A756310F95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2573977-9D80-DF81-7435-842904C7E6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ECA781-0938-CE6D-3B5A-69F8550605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0E24CA-049A-41C5-8223-E6EC566D6F18}" type="datetimeFigureOut">
              <a:rPr lang="en-IN" smtClean="0"/>
              <a:t>17-07-2026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38CBBD-71EB-38C4-4EE3-65CAE09862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3592AF-AD38-AF2C-2FA2-DAFD76F964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284D3-0538-4A5F-B034-D6BC5D3AA7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35273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01EA3D6-CC30-6C8B-0067-181EE5B12BA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2BB3E4C-9BFA-BD7A-AC0C-4EA0A837C4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1F3EC9-6FD2-823E-672F-3E836F58C7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0E24CA-049A-41C5-8223-E6EC566D6F18}" type="datetimeFigureOut">
              <a:rPr lang="en-IN" smtClean="0"/>
              <a:t>17-07-2026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728FB9-C15B-19F6-7D89-6A04D72397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E3E069-0436-EAEA-2C9D-964A5668ED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284D3-0538-4A5F-B034-D6BC5D3AA7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02905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78B52C7-95D7-FAB0-DE0B-8A9F3E47D4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0657B7-E4D8-976C-C4F2-F86D36C9DB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47B5BD-2E80-6639-E2C3-AB90D26A4B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0E24CA-049A-41C5-8223-E6EC566D6F18}" type="datetimeFigureOut">
              <a:rPr lang="en-IN" smtClean="0"/>
              <a:t>17-07-2026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5679D1-9E39-E579-F18F-B4F2003BECE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72E331-05B6-E1D3-3AC8-8439BBF901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7E284D3-0538-4A5F-B034-D6BC5D3AA7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573681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fi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fi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64646D5-9B0C-ED5C-114A-C0AA23A0E8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5370"/>
            <a:ext cx="4368602" cy="1218618"/>
          </a:xfrm>
        </p:spPr>
        <p:txBody>
          <a:bodyPr anchor="b">
            <a:normAutofit/>
          </a:bodyPr>
          <a:lstStyle/>
          <a:p>
            <a:r>
              <a:rPr lang="en-US" sz="3600" b="1" dirty="0"/>
              <a:t>The Past Approach - Third-Party Solutions</a:t>
            </a:r>
            <a:endParaRPr lang="en-IN" sz="3600" dirty="0"/>
          </a:p>
        </p:txBody>
      </p:sp>
      <p:sp>
        <p:nvSpPr>
          <p:cNvPr id="12" name="sketchy line">
            <a:extLst>
              <a:ext uri="{FF2B5EF4-FFF2-40B4-BE49-F238E27FC236}">
                <a16:creationId xmlns:a16="http://schemas.microsoft.com/office/drawing/2014/main" id="{D4974D33-8DC5-464E-8C6D-BE58F0669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2586994"/>
            <a:ext cx="3474720" cy="18288"/>
          </a:xfrm>
          <a:custGeom>
            <a:avLst/>
            <a:gdLst>
              <a:gd name="csX0" fmla="*/ 0 w 3474720"/>
              <a:gd name="csY0" fmla="*/ 0 h 18288"/>
              <a:gd name="csX1" fmla="*/ 694944 w 3474720"/>
              <a:gd name="csY1" fmla="*/ 0 h 18288"/>
              <a:gd name="csX2" fmla="*/ 1355141 w 3474720"/>
              <a:gd name="csY2" fmla="*/ 0 h 18288"/>
              <a:gd name="csX3" fmla="*/ 2015338 w 3474720"/>
              <a:gd name="csY3" fmla="*/ 0 h 18288"/>
              <a:gd name="csX4" fmla="*/ 2779776 w 3474720"/>
              <a:gd name="csY4" fmla="*/ 0 h 18288"/>
              <a:gd name="csX5" fmla="*/ 3474720 w 3474720"/>
              <a:gd name="csY5" fmla="*/ 0 h 18288"/>
              <a:gd name="csX6" fmla="*/ 3474720 w 3474720"/>
              <a:gd name="csY6" fmla="*/ 18288 h 18288"/>
              <a:gd name="csX7" fmla="*/ 2779776 w 3474720"/>
              <a:gd name="csY7" fmla="*/ 18288 h 18288"/>
              <a:gd name="csX8" fmla="*/ 2189074 w 3474720"/>
              <a:gd name="csY8" fmla="*/ 18288 h 18288"/>
              <a:gd name="csX9" fmla="*/ 1528877 w 3474720"/>
              <a:gd name="csY9" fmla="*/ 18288 h 18288"/>
              <a:gd name="csX10" fmla="*/ 868680 w 3474720"/>
              <a:gd name="csY10" fmla="*/ 18288 h 18288"/>
              <a:gd name="csX11" fmla="*/ 0 w 3474720"/>
              <a:gd name="csY11" fmla="*/ 18288 h 18288"/>
              <a:gd name="csX12" fmla="*/ 0 w 347472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2D9324-B435-1E6C-025F-387965619F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4057" y="2902879"/>
            <a:ext cx="4474625" cy="3320668"/>
          </a:xfrm>
        </p:spPr>
        <p:txBody>
          <a:bodyPr>
            <a:normAutofit/>
          </a:bodyPr>
          <a:lstStyle/>
          <a:p>
            <a:r>
              <a:rPr lang="en-US" sz="2200" b="1" dirty="0"/>
              <a:t>Approach:</a:t>
            </a:r>
            <a:r>
              <a:rPr lang="en-US" sz="2200" dirty="0"/>
              <a:t> One problem statement, one distinct software solution.</a:t>
            </a:r>
          </a:p>
          <a:p>
            <a:r>
              <a:rPr lang="en-US" sz="2200" b="1" dirty="0"/>
              <a:t>Challenges:</a:t>
            </a:r>
            <a:r>
              <a:rPr lang="en-US" sz="2200" dirty="0"/>
              <a:t> 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200" dirty="0"/>
              <a:t> Processes adjusted to in built standard software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200" dirty="0"/>
              <a:t>Lack of flexibility, high lead time.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200" dirty="0"/>
              <a:t> Development cost involved. </a:t>
            </a:r>
          </a:p>
          <a:p>
            <a:pPr marL="457200" lvl="1" indent="0">
              <a:buNone/>
            </a:pPr>
            <a:endParaRPr lang="en-IN" sz="2200" dirty="0"/>
          </a:p>
          <a:p>
            <a:pPr marL="0" indent="0">
              <a:buNone/>
            </a:pPr>
            <a:endParaRPr lang="en-IN" sz="2200" dirty="0"/>
          </a:p>
        </p:txBody>
      </p:sp>
      <p:pic>
        <p:nvPicPr>
          <p:cNvPr id="5" name="Picture 4" descr="A group of people standing around a group of monitors&#10;&#10;AI-generated content may be incorrect.">
            <a:extLst>
              <a:ext uri="{FF2B5EF4-FFF2-40B4-BE49-F238E27FC236}">
                <a16:creationId xmlns:a16="http://schemas.microsoft.com/office/drawing/2014/main" id="{7F3B89EA-41E7-9768-2A80-0B9C3745856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03"/>
          <a:stretch>
            <a:fillRect/>
          </a:stretch>
        </p:blipFill>
        <p:spPr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3247245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1" name="Rectangle 1030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B5DABD7-BA5D-A40B-D7A7-450E232C22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5369"/>
            <a:ext cx="4368602" cy="1956841"/>
          </a:xfrm>
        </p:spPr>
        <p:txBody>
          <a:bodyPr anchor="b">
            <a:normAutofit/>
          </a:bodyPr>
          <a:lstStyle/>
          <a:p>
            <a:r>
              <a:rPr lang="en-US" sz="3800" b="1" dirty="0"/>
              <a:t>Formation of In-House Digitization Team</a:t>
            </a:r>
            <a:endParaRPr lang="en-IN" sz="3800" dirty="0"/>
          </a:p>
        </p:txBody>
      </p:sp>
      <p:sp>
        <p:nvSpPr>
          <p:cNvPr id="1033" name="sketchy line">
            <a:extLst>
              <a:ext uri="{FF2B5EF4-FFF2-40B4-BE49-F238E27FC236}">
                <a16:creationId xmlns:a16="http://schemas.microsoft.com/office/drawing/2014/main" id="{D4974D33-8DC5-464E-8C6D-BE58F0669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2586994"/>
            <a:ext cx="3474720" cy="18288"/>
          </a:xfrm>
          <a:custGeom>
            <a:avLst/>
            <a:gdLst>
              <a:gd name="csX0" fmla="*/ 0 w 3474720"/>
              <a:gd name="csY0" fmla="*/ 0 h 18288"/>
              <a:gd name="csX1" fmla="*/ 694944 w 3474720"/>
              <a:gd name="csY1" fmla="*/ 0 h 18288"/>
              <a:gd name="csX2" fmla="*/ 1355141 w 3474720"/>
              <a:gd name="csY2" fmla="*/ 0 h 18288"/>
              <a:gd name="csX3" fmla="*/ 2015338 w 3474720"/>
              <a:gd name="csY3" fmla="*/ 0 h 18288"/>
              <a:gd name="csX4" fmla="*/ 2779776 w 3474720"/>
              <a:gd name="csY4" fmla="*/ 0 h 18288"/>
              <a:gd name="csX5" fmla="*/ 3474720 w 3474720"/>
              <a:gd name="csY5" fmla="*/ 0 h 18288"/>
              <a:gd name="csX6" fmla="*/ 3474720 w 3474720"/>
              <a:gd name="csY6" fmla="*/ 18288 h 18288"/>
              <a:gd name="csX7" fmla="*/ 2779776 w 3474720"/>
              <a:gd name="csY7" fmla="*/ 18288 h 18288"/>
              <a:gd name="csX8" fmla="*/ 2189074 w 3474720"/>
              <a:gd name="csY8" fmla="*/ 18288 h 18288"/>
              <a:gd name="csX9" fmla="*/ 1528877 w 3474720"/>
              <a:gd name="csY9" fmla="*/ 18288 h 18288"/>
              <a:gd name="csX10" fmla="*/ 868680 w 3474720"/>
              <a:gd name="csY10" fmla="*/ 18288 h 18288"/>
              <a:gd name="csX11" fmla="*/ 0 w 3474720"/>
              <a:gd name="csY11" fmla="*/ 18288 h 18288"/>
              <a:gd name="csX12" fmla="*/ 0 w 347472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7FA28E-D73E-496F-6AFC-2DE9A55CBF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872899"/>
            <a:ext cx="4243589" cy="3320668"/>
          </a:xfrm>
        </p:spPr>
        <p:txBody>
          <a:bodyPr>
            <a:normAutofit/>
          </a:bodyPr>
          <a:lstStyle/>
          <a:p>
            <a:r>
              <a:rPr lang="en-US" sz="2200" b="1" dirty="0"/>
              <a:t>Solution:</a:t>
            </a:r>
            <a:r>
              <a:rPr lang="en-US" sz="2200" dirty="0"/>
              <a:t> Developed applications in-house.</a:t>
            </a:r>
          </a:p>
          <a:p>
            <a:r>
              <a:rPr lang="en-US" sz="2200" b="1" dirty="0"/>
              <a:t>Benefits:</a:t>
            </a:r>
            <a:r>
              <a:rPr lang="en-US" sz="2200" dirty="0"/>
              <a:t> 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200" dirty="0"/>
              <a:t>Software built around existing workflows.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200" dirty="0"/>
              <a:t>More control, faster results, cost savings.</a:t>
            </a:r>
          </a:p>
          <a:p>
            <a:pPr marL="0" indent="0">
              <a:buNone/>
            </a:pPr>
            <a:endParaRPr lang="en-US" sz="2200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4C817AC8-2ACF-E1DF-5C8F-D4928D72FA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03"/>
          <a:stretch>
            <a:fillRect/>
          </a:stretch>
        </p:blipFill>
        <p:spPr bwMode="auto">
          <a:xfrm>
            <a:off x="5171608" y="-139662"/>
            <a:ext cx="7018870" cy="6997662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249903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55" name="Rectangle 2054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459C1D4-5EED-2CD4-FAD7-B607D546CB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5369"/>
            <a:ext cx="4368602" cy="1956841"/>
          </a:xfrm>
        </p:spPr>
        <p:txBody>
          <a:bodyPr anchor="b">
            <a:normAutofit/>
          </a:bodyPr>
          <a:lstStyle/>
          <a:p>
            <a:r>
              <a:rPr lang="en-US" sz="3800" b="1" dirty="0"/>
              <a:t>The New Challenge - Siloed In-House Solutions</a:t>
            </a:r>
            <a:endParaRPr lang="en-IN" sz="3800" dirty="0"/>
          </a:p>
        </p:txBody>
      </p:sp>
      <p:sp>
        <p:nvSpPr>
          <p:cNvPr id="2057" name="sketchy line">
            <a:extLst>
              <a:ext uri="{FF2B5EF4-FFF2-40B4-BE49-F238E27FC236}">
                <a16:creationId xmlns:a16="http://schemas.microsoft.com/office/drawing/2014/main" id="{D4974D33-8DC5-464E-8C6D-BE58F0669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2586994"/>
            <a:ext cx="3474720" cy="18288"/>
          </a:xfrm>
          <a:custGeom>
            <a:avLst/>
            <a:gdLst>
              <a:gd name="csX0" fmla="*/ 0 w 3474720"/>
              <a:gd name="csY0" fmla="*/ 0 h 18288"/>
              <a:gd name="csX1" fmla="*/ 694944 w 3474720"/>
              <a:gd name="csY1" fmla="*/ 0 h 18288"/>
              <a:gd name="csX2" fmla="*/ 1355141 w 3474720"/>
              <a:gd name="csY2" fmla="*/ 0 h 18288"/>
              <a:gd name="csX3" fmla="*/ 2015338 w 3474720"/>
              <a:gd name="csY3" fmla="*/ 0 h 18288"/>
              <a:gd name="csX4" fmla="*/ 2779776 w 3474720"/>
              <a:gd name="csY4" fmla="*/ 0 h 18288"/>
              <a:gd name="csX5" fmla="*/ 3474720 w 3474720"/>
              <a:gd name="csY5" fmla="*/ 0 h 18288"/>
              <a:gd name="csX6" fmla="*/ 3474720 w 3474720"/>
              <a:gd name="csY6" fmla="*/ 18288 h 18288"/>
              <a:gd name="csX7" fmla="*/ 2779776 w 3474720"/>
              <a:gd name="csY7" fmla="*/ 18288 h 18288"/>
              <a:gd name="csX8" fmla="*/ 2189074 w 3474720"/>
              <a:gd name="csY8" fmla="*/ 18288 h 18288"/>
              <a:gd name="csX9" fmla="*/ 1528877 w 3474720"/>
              <a:gd name="csY9" fmla="*/ 18288 h 18288"/>
              <a:gd name="csX10" fmla="*/ 868680 w 3474720"/>
              <a:gd name="csY10" fmla="*/ 18288 h 18288"/>
              <a:gd name="csX11" fmla="*/ 0 w 3474720"/>
              <a:gd name="csY11" fmla="*/ 18288 h 18288"/>
              <a:gd name="csX12" fmla="*/ 0 w 347472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BAC24D-9517-AD36-1272-FF4826BEBB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872899"/>
            <a:ext cx="4243589" cy="3320668"/>
          </a:xfrm>
        </p:spPr>
        <p:txBody>
          <a:bodyPr>
            <a:normAutofit/>
          </a:bodyPr>
          <a:lstStyle/>
          <a:p>
            <a:r>
              <a:rPr lang="en-US" sz="2200" b="1"/>
              <a:t>Realization:</a:t>
            </a:r>
            <a:r>
              <a:rPr lang="en-US" sz="2200"/>
              <a:t> Still one application per problem.</a:t>
            </a:r>
          </a:p>
          <a:p>
            <a:pPr marL="0" indent="0">
              <a:buNone/>
            </a:pPr>
            <a:endParaRPr lang="en-US" sz="2200"/>
          </a:p>
          <a:p>
            <a:r>
              <a:rPr lang="en-US" sz="2200" b="1"/>
              <a:t>Issue:</a:t>
            </a:r>
            <a:r>
              <a:rPr lang="en-US" sz="2200"/>
              <a:t> Siloed solutions, lack of centralization.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E817272A-D72E-4098-2F60-79B0662185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2"/>
          <a:stretch>
            <a:fillRect/>
          </a:stretch>
        </p:blipFill>
        <p:spPr bwMode="auto"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118725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C27412A-426A-B549-E780-239710E79C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5369"/>
            <a:ext cx="4368602" cy="1956841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800" b="1" dirty="0"/>
              <a:t>Introducing the Plant Dashboard: Our Integrated Core</a:t>
            </a:r>
            <a:endParaRPr lang="en-US" sz="3800" dirty="0"/>
          </a:p>
        </p:txBody>
      </p:sp>
      <p:sp>
        <p:nvSpPr>
          <p:cNvPr id="12" name="sketchy line">
            <a:extLst>
              <a:ext uri="{FF2B5EF4-FFF2-40B4-BE49-F238E27FC236}">
                <a16:creationId xmlns:a16="http://schemas.microsoft.com/office/drawing/2014/main" id="{D4974D33-8DC5-464E-8C6D-BE58F0669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2586994"/>
            <a:ext cx="3474720" cy="18288"/>
          </a:xfrm>
          <a:custGeom>
            <a:avLst/>
            <a:gdLst>
              <a:gd name="csX0" fmla="*/ 0 w 3474720"/>
              <a:gd name="csY0" fmla="*/ 0 h 18288"/>
              <a:gd name="csX1" fmla="*/ 694944 w 3474720"/>
              <a:gd name="csY1" fmla="*/ 0 h 18288"/>
              <a:gd name="csX2" fmla="*/ 1355141 w 3474720"/>
              <a:gd name="csY2" fmla="*/ 0 h 18288"/>
              <a:gd name="csX3" fmla="*/ 2015338 w 3474720"/>
              <a:gd name="csY3" fmla="*/ 0 h 18288"/>
              <a:gd name="csX4" fmla="*/ 2779776 w 3474720"/>
              <a:gd name="csY4" fmla="*/ 0 h 18288"/>
              <a:gd name="csX5" fmla="*/ 3474720 w 3474720"/>
              <a:gd name="csY5" fmla="*/ 0 h 18288"/>
              <a:gd name="csX6" fmla="*/ 3474720 w 3474720"/>
              <a:gd name="csY6" fmla="*/ 18288 h 18288"/>
              <a:gd name="csX7" fmla="*/ 2779776 w 3474720"/>
              <a:gd name="csY7" fmla="*/ 18288 h 18288"/>
              <a:gd name="csX8" fmla="*/ 2189074 w 3474720"/>
              <a:gd name="csY8" fmla="*/ 18288 h 18288"/>
              <a:gd name="csX9" fmla="*/ 1528877 w 3474720"/>
              <a:gd name="csY9" fmla="*/ 18288 h 18288"/>
              <a:gd name="csX10" fmla="*/ 868680 w 3474720"/>
              <a:gd name="csY10" fmla="*/ 18288 h 18288"/>
              <a:gd name="csX11" fmla="*/ 0 w 3474720"/>
              <a:gd name="csY11" fmla="*/ 18288 h 18288"/>
              <a:gd name="csX12" fmla="*/ 0 w 347472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8A8537A-312E-C071-AD7F-77358ED5D3B4}"/>
              </a:ext>
            </a:extLst>
          </p:cNvPr>
          <p:cNvSpPr txBox="1"/>
          <p:nvPr/>
        </p:nvSpPr>
        <p:spPr>
          <a:xfrm>
            <a:off x="255645" y="3502036"/>
            <a:ext cx="4243589" cy="244531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b="1" dirty="0"/>
              <a:t>The New Concept: </a:t>
            </a:r>
            <a:r>
              <a:rPr lang="en-US" sz="2200" dirty="0"/>
              <a:t>Multiple problem statements within a single, unified platform.</a:t>
            </a:r>
          </a:p>
        </p:txBody>
      </p:sp>
      <p:pic>
        <p:nvPicPr>
          <p:cNvPr id="4" name="Picture 3" descr="A diagram of a plant dashboard&#10;&#10;AI-generated content may be incorrect.">
            <a:extLst>
              <a:ext uri="{FF2B5EF4-FFF2-40B4-BE49-F238E27FC236}">
                <a16:creationId xmlns:a16="http://schemas.microsoft.com/office/drawing/2014/main" id="{BD414769-9183-2121-7DB2-EED6D394EC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8" b="165"/>
          <a:stretch>
            <a:fillRect/>
          </a:stretch>
        </p:blipFill>
        <p:spPr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C399572F-790F-E417-D458-FB1684DE7A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7103" y="2605282"/>
            <a:ext cx="3061160" cy="1621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565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6797BE0-3C4B-3C9C-2A04-ED8F8931E0D8}"/>
              </a:ext>
            </a:extLst>
          </p:cNvPr>
          <p:cNvSpPr txBox="1"/>
          <p:nvPr/>
        </p:nvSpPr>
        <p:spPr>
          <a:xfrm>
            <a:off x="899409" y="284574"/>
            <a:ext cx="60935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IN" sz="3600" b="1" dirty="0"/>
              <a:t>Our Target: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52AE2F4-6DA9-FE7B-F314-6CDBE0A13348}"/>
              </a:ext>
            </a:extLst>
          </p:cNvPr>
          <p:cNvSpPr txBox="1"/>
          <p:nvPr/>
        </p:nvSpPr>
        <p:spPr>
          <a:xfrm>
            <a:off x="286602" y="4026091"/>
            <a:ext cx="11000096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IN" sz="2400" b="1" dirty="0"/>
              <a:t>Key Milestones:</a:t>
            </a:r>
          </a:p>
          <a:p>
            <a:pPr lvl="2"/>
            <a:r>
              <a:rPr lang="en-IN" sz="2400" dirty="0"/>
              <a:t>Dec 2024: Concept &amp; Strategic Vision Defined.</a:t>
            </a:r>
          </a:p>
          <a:p>
            <a:pPr lvl="2"/>
            <a:r>
              <a:rPr lang="en-IN" sz="2400" dirty="0"/>
              <a:t>Apr 2025: Pilot areas successfully integrated and live on the Dashboard, </a:t>
            </a:r>
          </a:p>
          <a:p>
            <a:pPr lvl="2"/>
            <a:r>
              <a:rPr lang="en-IN" sz="2400" dirty="0"/>
              <a:t>demonstrating early impact.</a:t>
            </a:r>
            <a:br>
              <a:rPr lang="en-IN" sz="2400" dirty="0"/>
            </a:br>
            <a:br>
              <a:rPr lang="en-IN" sz="2400" dirty="0"/>
            </a:br>
            <a:br>
              <a:rPr lang="en-IN" sz="2400" dirty="0"/>
            </a:br>
            <a:endParaRPr lang="en-IN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7719670-FBC0-3722-1A14-D786AA1727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6442" y="0"/>
            <a:ext cx="6560256" cy="43735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45386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B7AD9F6-8CE7-4299-8FC6-328F4DCD3F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342CCAD-75AA-EF8A-8605-C3DF9583FD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0119" y="665653"/>
            <a:ext cx="3734014" cy="356616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 b="1" dirty="0"/>
              <a:t>Customized but Scalable!</a:t>
            </a:r>
            <a:endParaRPr lang="en-US" sz="5400" dirty="0"/>
          </a:p>
        </p:txBody>
      </p:sp>
      <p:sp>
        <p:nvSpPr>
          <p:cNvPr id="11" name="sketchy line">
            <a:extLst>
              <a:ext uri="{FF2B5EF4-FFF2-40B4-BE49-F238E27FC236}">
                <a16:creationId xmlns:a16="http://schemas.microsoft.com/office/drawing/2014/main" id="{F49775AF-8896-43EE-92C6-83497D6DC5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90338" y="4409267"/>
            <a:ext cx="3474720" cy="18288"/>
          </a:xfrm>
          <a:custGeom>
            <a:avLst/>
            <a:gdLst>
              <a:gd name="csX0" fmla="*/ 0 w 3474720"/>
              <a:gd name="csY0" fmla="*/ 0 h 18288"/>
              <a:gd name="csX1" fmla="*/ 694944 w 3474720"/>
              <a:gd name="csY1" fmla="*/ 0 h 18288"/>
              <a:gd name="csX2" fmla="*/ 1355141 w 3474720"/>
              <a:gd name="csY2" fmla="*/ 0 h 18288"/>
              <a:gd name="csX3" fmla="*/ 2015338 w 3474720"/>
              <a:gd name="csY3" fmla="*/ 0 h 18288"/>
              <a:gd name="csX4" fmla="*/ 2779776 w 3474720"/>
              <a:gd name="csY4" fmla="*/ 0 h 18288"/>
              <a:gd name="csX5" fmla="*/ 3474720 w 3474720"/>
              <a:gd name="csY5" fmla="*/ 0 h 18288"/>
              <a:gd name="csX6" fmla="*/ 3474720 w 3474720"/>
              <a:gd name="csY6" fmla="*/ 18288 h 18288"/>
              <a:gd name="csX7" fmla="*/ 2779776 w 3474720"/>
              <a:gd name="csY7" fmla="*/ 18288 h 18288"/>
              <a:gd name="csX8" fmla="*/ 2189074 w 3474720"/>
              <a:gd name="csY8" fmla="*/ 18288 h 18288"/>
              <a:gd name="csX9" fmla="*/ 1528877 w 3474720"/>
              <a:gd name="csY9" fmla="*/ 18288 h 18288"/>
              <a:gd name="csX10" fmla="*/ 868680 w 3474720"/>
              <a:gd name="csY10" fmla="*/ 18288 h 18288"/>
              <a:gd name="csX11" fmla="*/ 0 w 3474720"/>
              <a:gd name="csY11" fmla="*/ 18288 h 18288"/>
              <a:gd name="csX12" fmla="*/ 0 w 347472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diagram of a cloud computing system&#10;&#10;AI-generated content may be incorrect.">
            <a:extLst>
              <a:ext uri="{FF2B5EF4-FFF2-40B4-BE49-F238E27FC236}">
                <a16:creationId xmlns:a16="http://schemas.microsoft.com/office/drawing/2014/main" id="{9F4A7417-56ED-A16C-3E4B-F411300EEF4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2"/>
          <a:stretch>
            <a:fillRect/>
          </a:stretch>
        </p:blipFill>
        <p:spPr>
          <a:xfrm>
            <a:off x="4143914" y="-738716"/>
            <a:ext cx="8360694" cy="8335431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1443EDD-754E-1EBB-FE3B-5CF732C578EA}"/>
              </a:ext>
            </a:extLst>
          </p:cNvPr>
          <p:cNvSpPr txBox="1"/>
          <p:nvPr/>
        </p:nvSpPr>
        <p:spPr>
          <a:xfrm>
            <a:off x="9353863" y="665653"/>
            <a:ext cx="261520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Horizontal Deployment</a:t>
            </a:r>
            <a:br>
              <a:rPr lang="en-US" b="1" dirty="0"/>
            </a:br>
            <a:r>
              <a:rPr lang="en-US" b="1" dirty="0"/>
              <a:t>in all FD 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37425336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C9041A19-968C-86E5-B903-084D2791D0D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06845"/>
            <a:ext cx="12192000" cy="60443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78867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86344E7-1689-2308-A5AA-05905D672E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174"/>
            <a:ext cx="12192000" cy="68496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14329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C39763-A320-4B89-4FA2-840B5EF78EE0}"/>
              </a:ext>
            </a:extLst>
          </p:cNvPr>
          <p:cNvSpPr txBox="1"/>
          <p:nvPr/>
        </p:nvSpPr>
        <p:spPr>
          <a:xfrm>
            <a:off x="3773706" y="-45605"/>
            <a:ext cx="510615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Application Utilization</a:t>
            </a:r>
            <a:endParaRPr lang="en-IN" sz="3200" dirty="0"/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F483ECB2-6841-F27F-799A-25748220EE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7280890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5353</TotalTime>
  <Words>161</Words>
  <Application>Microsoft Office PowerPoint</Application>
  <PresentationFormat>Widescreen</PresentationFormat>
  <Paragraphs>25</Paragraphs>
  <Slides>9</Slides>
  <Notes>0</Notes>
  <HiddenSlides>1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Aptos</vt:lpstr>
      <vt:lpstr>Aptos Display</vt:lpstr>
      <vt:lpstr>Arial</vt:lpstr>
      <vt:lpstr>Wingdings</vt:lpstr>
      <vt:lpstr>Office Theme</vt:lpstr>
      <vt:lpstr>The Past Approach - Third-Party Solutions</vt:lpstr>
      <vt:lpstr>Formation of In-House Digitization Team</vt:lpstr>
      <vt:lpstr>The New Challenge - Siloed In-House Solutions</vt:lpstr>
      <vt:lpstr>Introducing the Plant Dashboard: Our Integrated Core</vt:lpstr>
      <vt:lpstr>PowerPoint Presentation</vt:lpstr>
      <vt:lpstr>Customized but Scalable!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NINAWE PRATHAMESH</dc:creator>
  <cp:lastModifiedBy>NINAWE PRATHAMESH</cp:lastModifiedBy>
  <cp:revision>58</cp:revision>
  <dcterms:created xsi:type="dcterms:W3CDTF">2025-09-16T03:29:33Z</dcterms:created>
  <dcterms:modified xsi:type="dcterms:W3CDTF">2026-07-17T09:06:59Z</dcterms:modified>
</cp:coreProperties>
</file>